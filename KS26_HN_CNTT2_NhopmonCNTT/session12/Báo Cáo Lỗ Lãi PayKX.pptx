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81000" y="6400800"/>
            <a:ext cx="11430000" cy="495300"/>
          </a:xfrm>
          <a:prstGeom prst="roundRect">
            <a:avLst>
              <a:gd name="adj" fmla="val 15384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1000" y="1533525"/>
            <a:ext cx="2743200" cy="2257425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76600" y="1533525"/>
            <a:ext cx="2743200" cy="2257425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72200" y="1533525"/>
            <a:ext cx="2743200" cy="2257425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067800" y="1533525"/>
            <a:ext cx="2743200" cy="2257425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1000" y="3981450"/>
            <a:ext cx="5600700" cy="22288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0300" y="3981450"/>
            <a:ext cx="5600700" cy="22288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1000" y="3981450"/>
            <a:ext cx="56007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0300" y="3981450"/>
            <a:ext cx="56007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700837" y="4495800"/>
            <a:ext cx="1714500" cy="1714500"/>
          </a:xfrm>
          <a:prstGeom prst="roundRect">
            <a:avLst>
              <a:gd name="adj" fmla="val 27777"/>
            </a:avLst>
          </a:prstGeom>
          <a:solidFill>
            <a:srgbClr val="8576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98165" y="5652789"/>
            <a:ext cx="457200" cy="290810"/>
          </a:xfrm>
          <a:prstGeom prst="roundRect">
            <a:avLst>
              <a:gd name="adj" fmla="val 655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899195" y="5576887"/>
            <a:ext cx="457200" cy="366712"/>
          </a:xfrm>
          <a:prstGeom prst="roundRect">
            <a:avLst>
              <a:gd name="adj" fmla="val 5194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000226" y="5433714"/>
            <a:ext cx="457200" cy="509885"/>
          </a:xfrm>
          <a:prstGeom prst="roundRect">
            <a:avLst>
              <a:gd name="adj" fmla="val 4166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101256" y="5313908"/>
            <a:ext cx="457200" cy="629691"/>
          </a:xfrm>
          <a:prstGeom prst="roundRect">
            <a:avLst>
              <a:gd name="adj" fmla="val 4166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202287" y="5108227"/>
            <a:ext cx="457200" cy="835372"/>
          </a:xfrm>
          <a:prstGeom prst="roundRect">
            <a:avLst>
              <a:gd name="adj" fmla="val 4166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129462" y="4924425"/>
            <a:ext cx="857250" cy="8572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72537" y="4762500"/>
            <a:ext cx="152400" cy="152400"/>
          </a:xfrm>
          <a:prstGeom prst="roundRect">
            <a:avLst>
              <a:gd name="adj" fmla="val 125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872537" y="5105400"/>
            <a:ext cx="152400" cy="152400"/>
          </a:xfrm>
          <a:prstGeom prst="roundRect">
            <a:avLst>
              <a:gd name="adj" fmla="val 12500"/>
            </a:avLst>
          </a:prstGeom>
          <a:solidFill>
            <a:srgbClr val="65A3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872537" y="5448300"/>
            <a:ext cx="152400" cy="152400"/>
          </a:xfrm>
          <a:prstGeom prst="roundRect">
            <a:avLst>
              <a:gd name="adj" fmla="val 12500"/>
            </a:avLst>
          </a:prstGeom>
          <a:solidFill>
            <a:srgbClr val="933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872537" y="5791200"/>
            <a:ext cx="152400" cy="152400"/>
          </a:xfrm>
          <a:prstGeom prst="roundRect">
            <a:avLst>
              <a:gd name="adj" fmla="val 125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47987" y="6534150"/>
            <a:ext cx="228600" cy="2286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47662"/>
            <a:ext cx="285750" cy="3810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1150" y="1733550"/>
            <a:ext cx="342900" cy="3048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5800" y="1733550"/>
            <a:ext cx="304800" cy="3048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3300" y="1733550"/>
            <a:ext cx="381000" cy="3048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87000" y="1733550"/>
            <a:ext cx="304800" cy="30480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04937" y="3219450"/>
            <a:ext cx="95250" cy="1524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19587" y="3219450"/>
            <a:ext cx="95250" cy="15240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91375" y="3219450"/>
            <a:ext cx="95250" cy="15240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91737" y="3219450"/>
            <a:ext cx="95250" cy="1524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381000" y="1190625"/>
            <a:ext cx="118110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293B"/>
                </a:solidFill>
                <a:latin typeface="Inter"/>
              </a:rPr>
              <a:t>TỔNG QUAN KẾT QUẢ</a:t>
            </a:r>
            <a:endParaRPr sz="1500" b="1" i="0" u="none">
              <a:solidFill>
                <a:srgbClr val="1E293B"/>
              </a:solidFill>
              <a:latin typeface="Inter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328987" y="6534150"/>
            <a:ext cx="7393781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FFFFF"/>
                </a:solidFill>
                <a:latin typeface="Inter"/>
              </a:rPr>
              <a:t>Tăng trưởng doanh thu mạnh - Tối ưu chi phí - Lợi nhuận bứt phá</a:t>
            </a:r>
            <a:endParaRPr sz="1500" b="1" i="0" u="none">
              <a:solidFill>
                <a:srgbClr val="FFFFFF"/>
              </a:solidFill>
              <a:latin typeface="Inter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067800" y="175260"/>
            <a:ext cx="3275330" cy="415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700" b="1" i="0" u="none">
                <a:solidFill>
                  <a:srgbClr val="1D4ED8"/>
                </a:solidFill>
                <a:latin typeface="Inter"/>
              </a:rPr>
              <a:t>BÁO CÁO LỖ LÃI</a:t>
            </a:r>
            <a:endParaRPr sz="2700" b="1" i="0" u="none">
              <a:solidFill>
                <a:srgbClr val="1D4ED8"/>
              </a:solidFill>
              <a:latin typeface="Inter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9617710" y="590550"/>
            <a:ext cx="2247900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E293B"/>
                </a:solidFill>
                <a:latin typeface="Inter"/>
              </a:rPr>
              <a:t>THÁNG 05/2024</a:t>
            </a:r>
            <a:endParaRPr sz="1800" b="1" i="0" u="none">
              <a:solidFill>
                <a:srgbClr val="1E293B"/>
              </a:solidFill>
              <a:latin typeface="Inter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94146" y="2190750"/>
            <a:ext cx="1916906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475569"/>
                </a:solidFill>
                <a:latin typeface="Inter"/>
              </a:rPr>
              <a:t>DOANH THU THUẦN</a:t>
            </a:r>
            <a:endParaRPr sz="1200" b="1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052512" y="2457450"/>
            <a:ext cx="1400175" cy="4000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sz="3150" b="1" i="0" u="none">
                <a:solidFill>
                  <a:srgbClr val="1D4ED8"/>
                </a:solidFill>
                <a:latin typeface="Inter"/>
              </a:rPr>
              <a:t>12,45</a:t>
            </a:r>
            <a:endParaRPr sz="3150" b="1" i="0" u="none">
              <a:solidFill>
                <a:srgbClr val="1D4ED8"/>
              </a:solidFill>
              <a:latin typeface="Inter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323975" y="2857500"/>
            <a:ext cx="85725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1D4ED8"/>
                </a:solidFill>
                <a:latin typeface="Inter"/>
              </a:rPr>
              <a:t>Tỷ VND</a:t>
            </a:r>
            <a:endParaRPr sz="1200" b="1" i="0" u="none">
              <a:solidFill>
                <a:srgbClr val="1D4ED8"/>
              </a:solidFill>
              <a:latin typeface="Inter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133475" y="3429000"/>
            <a:ext cx="12382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Inter"/>
              </a:rPr>
              <a:t>so với T4/2024</a:t>
            </a:r>
            <a:endParaRPr sz="1050" b="0" i="0" u="none">
              <a:solidFill>
                <a:srgbClr val="64748B"/>
              </a:solidFill>
              <a:latin typeface="Inter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976687" y="2190750"/>
            <a:ext cx="134302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475569"/>
                </a:solidFill>
                <a:latin typeface="Inter"/>
              </a:rPr>
              <a:t>TỔNG CHI PHÍ</a:t>
            </a:r>
            <a:endParaRPr sz="1200" b="1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4076700" y="2457450"/>
            <a:ext cx="1143000" cy="4000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sz="3150" b="1" i="0" u="none">
                <a:solidFill>
                  <a:srgbClr val="15803D"/>
                </a:solidFill>
                <a:latin typeface="Inter"/>
              </a:rPr>
              <a:t>7,28</a:t>
            </a:r>
            <a:endParaRPr sz="3150" b="1" i="0" u="none">
              <a:solidFill>
                <a:srgbClr val="15803D"/>
              </a:solidFill>
              <a:latin typeface="Inter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219575" y="2857500"/>
            <a:ext cx="85725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15803D"/>
                </a:solidFill>
                <a:latin typeface="Inter"/>
              </a:rPr>
              <a:t>Tỷ VND</a:t>
            </a:r>
            <a:endParaRPr sz="1200" b="1" i="0" u="none">
              <a:solidFill>
                <a:srgbClr val="15803D"/>
              </a:solidFill>
              <a:latin typeface="Inter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4029075" y="3429000"/>
            <a:ext cx="12382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Inter"/>
              </a:rPr>
              <a:t>so với T4/2024</a:t>
            </a:r>
            <a:endParaRPr sz="1050" b="0" i="0" u="none">
              <a:solidFill>
                <a:srgbClr val="64748B"/>
              </a:solidFill>
              <a:latin typeface="Inter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781800" y="2190750"/>
            <a:ext cx="15240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475569"/>
                </a:solidFill>
                <a:latin typeface="Inter"/>
              </a:rPr>
              <a:t>LỢI NHUẬN GỘP</a:t>
            </a:r>
            <a:endParaRPr sz="1200" b="1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7015162" y="2457450"/>
            <a:ext cx="1057275" cy="4000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sz="3150" b="1" i="0" u="none">
                <a:solidFill>
                  <a:srgbClr val="7E22CE"/>
                </a:solidFill>
                <a:latin typeface="Inter"/>
              </a:rPr>
              <a:t>5,17</a:t>
            </a:r>
            <a:endParaRPr sz="3150" b="1" i="0" u="none">
              <a:solidFill>
                <a:srgbClr val="7E22CE"/>
              </a:solidFill>
              <a:latin typeface="Inter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7115175" y="2857500"/>
            <a:ext cx="85725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7E22CE"/>
                </a:solidFill>
                <a:latin typeface="Inter"/>
              </a:rPr>
              <a:t>Tỷ VND</a:t>
            </a:r>
            <a:endParaRPr sz="1200" b="1" i="0" u="none">
              <a:solidFill>
                <a:srgbClr val="7E22CE"/>
              </a:solidFill>
              <a:latin typeface="Inter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6924675" y="3429000"/>
            <a:ext cx="12382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Inter"/>
              </a:rPr>
              <a:t>so với T4/2024</a:t>
            </a:r>
            <a:endParaRPr sz="1050" b="0" i="0" u="none">
              <a:solidFill>
                <a:srgbClr val="64748B"/>
              </a:solidFill>
              <a:latin typeface="Inter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9385696" y="2190750"/>
            <a:ext cx="2107406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475569"/>
                </a:solidFill>
                <a:latin typeface="Inter"/>
              </a:rPr>
              <a:t>LỢI NHUẬN SAU THUẾ</a:t>
            </a:r>
            <a:endParaRPr sz="1200" b="1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9834562" y="2457450"/>
            <a:ext cx="1209675" cy="4000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sz="3150" b="1" i="0" u="none">
                <a:solidFill>
                  <a:srgbClr val="EA580C"/>
                </a:solidFill>
                <a:latin typeface="Inter"/>
              </a:rPr>
              <a:t>2,89</a:t>
            </a:r>
            <a:endParaRPr sz="3150" b="1" i="0" u="none">
              <a:solidFill>
                <a:srgbClr val="EA580C"/>
              </a:solidFill>
              <a:latin typeface="Inter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0010775" y="2857500"/>
            <a:ext cx="85725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EA580C"/>
                </a:solidFill>
                <a:latin typeface="Inter"/>
              </a:rPr>
              <a:t>Tỷ VND</a:t>
            </a:r>
            <a:endParaRPr sz="1200" b="1" i="0" u="none">
              <a:solidFill>
                <a:srgbClr val="EA580C"/>
              </a:solidFill>
              <a:latin typeface="Inter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9820275" y="3429000"/>
            <a:ext cx="12382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64748B"/>
                </a:solidFill>
                <a:latin typeface="Inter"/>
              </a:rPr>
              <a:t>so với T4/2024</a:t>
            </a:r>
            <a:endParaRPr sz="1050" b="0" i="0" u="none">
              <a:solidFill>
                <a:srgbClr val="64748B"/>
              </a:solidFill>
              <a:latin typeface="Inter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81050" y="323850"/>
            <a:ext cx="180975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2100" b="1" i="0" u="none">
                <a:solidFill>
                  <a:srgbClr val="1E293B"/>
                </a:solidFill>
                <a:latin typeface="Inter"/>
              </a:rPr>
              <a:t>PayKX</a:t>
            </a:r>
            <a:endParaRPr sz="2100" b="1" i="0" u="none">
              <a:solidFill>
                <a:srgbClr val="1E293B"/>
              </a:solidFill>
              <a:latin typeface="Inter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781050" y="590550"/>
            <a:ext cx="18097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Inter"/>
              </a:rPr>
              <a:t>Ví điện tử cho sinh viên</a:t>
            </a:r>
            <a:endParaRPr sz="1050" b="0" i="0" u="none">
              <a:solidFill>
                <a:srgbClr val="64748B"/>
              </a:solidFill>
              <a:latin typeface="Inter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1395412" y="3200400"/>
            <a:ext cx="84772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16A34A"/>
                </a:solidFill>
                <a:latin typeface="Inter"/>
              </a:rPr>
              <a:t>+18,6%</a:t>
            </a:r>
            <a:endParaRPr sz="1200" b="1" i="0" u="none">
              <a:solidFill>
                <a:srgbClr val="16A34A"/>
              </a:solidFill>
              <a:latin typeface="Inter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4310062" y="3200400"/>
            <a:ext cx="80962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16A34A"/>
                </a:solidFill>
                <a:latin typeface="Inter"/>
              </a:rPr>
              <a:t>+12,1%</a:t>
            </a:r>
            <a:endParaRPr sz="1200" b="1" i="0" u="none">
              <a:solidFill>
                <a:srgbClr val="16A34A"/>
              </a:solidFill>
              <a:latin typeface="Inter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7181850" y="3200400"/>
            <a:ext cx="85725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16A34A"/>
                </a:solidFill>
                <a:latin typeface="Inter"/>
              </a:rPr>
              <a:t>+27,4%</a:t>
            </a:r>
            <a:endParaRPr sz="1200" b="1" i="0" u="none">
              <a:solidFill>
                <a:srgbClr val="16A34A"/>
              </a:solidFill>
              <a:latin typeface="Inter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10082212" y="3200400"/>
            <a:ext cx="84772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16A34A"/>
                </a:solidFill>
                <a:latin typeface="Inter"/>
              </a:rPr>
              <a:t>+31,2%</a:t>
            </a:r>
            <a:endParaRPr sz="1200" b="1" i="0" u="none">
              <a:solidFill>
                <a:srgbClr val="16A34A"/>
              </a:solidFill>
              <a:latin typeface="Inter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381000" y="4143375"/>
            <a:ext cx="221277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Inter"/>
              </a:rPr>
              <a:t>DOANH THU THUẦN</a:t>
            </a:r>
            <a:endParaRPr sz="1350" b="1" i="0" u="none">
              <a:solidFill>
                <a:srgbClr val="1E293B"/>
              </a:solidFill>
              <a:latin typeface="Inter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2143125" y="4171950"/>
            <a:ext cx="8763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D4ED8"/>
                </a:solidFill>
                <a:latin typeface="Inter"/>
              </a:rPr>
              <a:t>(Tỷ VND)</a:t>
            </a:r>
            <a:endParaRPr sz="1050" b="1" i="0" u="none">
              <a:solidFill>
                <a:srgbClr val="1D4ED8"/>
              </a:solidFill>
              <a:latin typeface="Inter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6210300" y="4143375"/>
            <a:ext cx="173771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Inter"/>
              </a:rPr>
              <a:t>CƠ CẤU CHI PHÍ</a:t>
            </a:r>
            <a:endParaRPr sz="1350" b="1" i="0" u="none">
              <a:solidFill>
                <a:srgbClr val="1E293B"/>
              </a:solidFill>
              <a:latin typeface="Inter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7610475" y="4171950"/>
            <a:ext cx="94297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Inter"/>
              </a:rPr>
              <a:t>(T5/2024)</a:t>
            </a:r>
            <a:endParaRPr sz="1050" b="1" i="0" u="none">
              <a:solidFill>
                <a:srgbClr val="64748B"/>
              </a:solidFill>
              <a:latin typeface="Inter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888652" y="5414664"/>
            <a:ext cx="56197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475569"/>
                </a:solidFill>
                <a:latin typeface="Inter"/>
              </a:rPr>
              <a:t>7,28</a:t>
            </a:r>
            <a:endParaRPr sz="1050" b="1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912465" y="6019800"/>
            <a:ext cx="5143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475569"/>
                </a:solidFill>
                <a:latin typeface="Inter"/>
              </a:rPr>
              <a:t>T01</a:t>
            </a:r>
            <a:endParaRPr sz="1050" b="1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1989683" y="5338762"/>
            <a:ext cx="56197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475569"/>
                </a:solidFill>
                <a:latin typeface="Inter"/>
              </a:rPr>
              <a:t>8,01</a:t>
            </a:r>
            <a:endParaRPr sz="1050" b="1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1999208" y="6019800"/>
            <a:ext cx="54292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475569"/>
                </a:solidFill>
                <a:latin typeface="Inter"/>
              </a:rPr>
              <a:t>T02</a:t>
            </a:r>
            <a:endParaRPr sz="1050" b="1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3076426" y="5195589"/>
            <a:ext cx="5905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475569"/>
                </a:solidFill>
                <a:latin typeface="Inter"/>
              </a:rPr>
              <a:t>9,36</a:t>
            </a:r>
            <a:endParaRPr sz="1050" b="1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3100238" y="6019800"/>
            <a:ext cx="54292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475569"/>
                </a:solidFill>
                <a:latin typeface="Inter"/>
              </a:rPr>
              <a:t>T03</a:t>
            </a:r>
            <a:endParaRPr sz="1050" b="1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4148881" y="5075783"/>
            <a:ext cx="6477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475569"/>
                </a:solidFill>
                <a:latin typeface="Inter"/>
              </a:rPr>
              <a:t>10,50</a:t>
            </a:r>
            <a:endParaRPr sz="1050" b="1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4201269" y="6019800"/>
            <a:ext cx="54292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475569"/>
                </a:solidFill>
                <a:latin typeface="Inter"/>
              </a:rPr>
              <a:t>T04</a:t>
            </a:r>
            <a:endParaRPr sz="1050" b="1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5249912" y="4870102"/>
            <a:ext cx="6477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475569"/>
                </a:solidFill>
                <a:latin typeface="Inter"/>
              </a:rPr>
              <a:t>12,45</a:t>
            </a:r>
            <a:endParaRPr sz="1050" b="1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5302299" y="6019800"/>
            <a:ext cx="54292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475569"/>
                </a:solidFill>
                <a:latin typeface="Inter"/>
              </a:rPr>
              <a:t>T05</a:t>
            </a:r>
            <a:endParaRPr sz="1050" b="1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9139237" y="4743450"/>
            <a:ext cx="2726531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34155"/>
                </a:solidFill>
                <a:latin typeface="Inter"/>
              </a:rPr>
              <a:t>46%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Phí đối tác &amp; ngân hàng</a:t>
            </a:r>
            <a:endParaRPr sz="1200" b="0" i="0" u="none">
              <a:solidFill>
                <a:srgbClr val="334155"/>
              </a:solidFill>
              <a:latin typeface="Inter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9139237" y="5086350"/>
            <a:ext cx="2083593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34155"/>
                </a:solidFill>
                <a:latin typeface="Inter"/>
              </a:rPr>
              <a:t>28%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Chi phí vận hành</a:t>
            </a:r>
            <a:endParaRPr sz="1200" b="0" i="0" u="none">
              <a:solidFill>
                <a:srgbClr val="334155"/>
              </a:solidFill>
              <a:latin typeface="Inter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9139237" y="5429250"/>
            <a:ext cx="2131218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34155"/>
                </a:solidFill>
                <a:latin typeface="Inter"/>
              </a:rPr>
              <a:t>16%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Chi phí marketing</a:t>
            </a:r>
            <a:endParaRPr sz="1200" b="0" i="0" u="none">
              <a:solidFill>
                <a:srgbClr val="334155"/>
              </a:solidFill>
              <a:latin typeface="Inter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9139237" y="5772150"/>
            <a:ext cx="109537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34155"/>
                </a:solidFill>
                <a:latin typeface="Inter"/>
              </a:rPr>
              <a:t>10%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Khác</a:t>
            </a:r>
            <a:endParaRPr sz="1200" b="0" i="0" u="none">
              <a:solidFill>
                <a:srgbClr val="334155"/>
              </a:solidFill>
              <a:latin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474</Words>
  <Application>WPS Sheets</Application>
  <PresentationFormat>On-screen Show (4:3)</PresentationFormat>
  <Paragraphs>88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4" baseType="lpstr">
      <vt:lpstr>Arial</vt:lpstr>
      <vt:lpstr>SimSun</vt:lpstr>
      <vt:lpstr>Wingdings</vt:lpstr>
      <vt:lpstr>Arial</vt:lpstr>
      <vt:lpstr>Inter</vt:lpstr>
      <vt:lpstr>Thonburi</vt:lpstr>
      <vt:lpstr>Calibri</vt:lpstr>
      <vt:lpstr>Helvetica Neue</vt:lpstr>
      <vt:lpstr>Microsoft YaHei</vt:lpstr>
      <vt:lpstr>汉仪旗黑</vt:lpstr>
      <vt:lpstr>Arial Unicode MS</vt:lpstr>
      <vt:lpstr>宋体-简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Nguyễn Nam</cp:lastModifiedBy>
  <cp:revision>2</cp:revision>
  <dcterms:created xsi:type="dcterms:W3CDTF">2026-10-26T04:15:35Z</dcterms:created>
  <dcterms:modified xsi:type="dcterms:W3CDTF">2026-10-26T04:15:35Z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E2D3684EA4C9CA21E7D3DE6A7045254E_43</vt:lpwstr>
  </property>
  <property fmtid="{D5CDD505-2E9C-101B-9397-08002B2CF9AE}" pid="3" name="KSOProductBuildVer">
    <vt:lpwstr>1033-12.1.29182.29182</vt:lpwstr>
  </property>
</Properties>
</file>